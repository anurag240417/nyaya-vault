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7029450ef44b61" /><Relationship Type="http://schemas.openxmlformats.org/officeDocument/2006/relationships/extended-properties" Target="/docProps/app.xml" Id="R4a59cfcf00194004" /><Relationship Type="http://schemas.openxmlformats.org/officeDocument/2006/relationships/officeDocument" Target="/ppt/presentation.xml" Id="R08972cd3cf05482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56a3b59e0d426e"/>
  </p:sldMasterIdLst>
  <p:notesMasterIdLst>
    <p:notesMasterId xmlns:r="http://schemas.openxmlformats.org/officeDocument/2006/relationships" r:id="Rca72f40dd1b44397"/>
  </p:notesMasterIdLst>
  <p:sldIdLst>
    <p:sldId xmlns:r="http://schemas.openxmlformats.org/officeDocument/2006/relationships" id="256" r:id="R9acc002d2f5e4b91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65ab26675a54495" /><Relationship Type="http://schemas.openxmlformats.org/officeDocument/2006/relationships/slideMaster" Target="/ppt/slideMasters/slideMaster1.xml" Id="Rc556a3b59e0d426e" /><Relationship Type="http://schemas.openxmlformats.org/officeDocument/2006/relationships/notesMaster" Target="/ppt/notesMasters/notesMaster1.xml" Id="Rca72f40dd1b44397" /><Relationship Type="http://schemas.openxmlformats.org/officeDocument/2006/relationships/presProps" Target="/ppt/presProps.xml" Id="Re47db0f7fe114e16" /><Relationship Type="http://schemas.openxmlformats.org/officeDocument/2006/relationships/tableStyles" Target="/ppt/tableStyles.xml" Id="R970174756a8b4910" /><Relationship Type="http://schemas.openxmlformats.org/officeDocument/2006/relationships/slide" Target="/ppt/slides/slide1.xml" Id="R9acc002d2f5e4b9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bec4416a722451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6d6aeb29724160" /><Relationship Type="http://schemas.openxmlformats.org/officeDocument/2006/relationships/notesMaster" Target="/ppt/notesMasters/notesMaster1.xml" Id="Ra858cddd9105405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Text supplied by the user, reproduced as requested. Visual design inspired by the attached reference image.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34d4a72f304a2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6b3de5095fa4eb9" /><Relationship Type="http://schemas.openxmlformats.org/officeDocument/2006/relationships/slideLayout" Target="/ppt/slideLayouts/slideLayout1.xml" Id="R1d74a37e7dd8438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d74a37e7dd8438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06c47ba79c48f1" /><Relationship Type="http://schemas.openxmlformats.org/officeDocument/2006/relationships/notesSlide" Target="/ppt/notesSlides/notesSlide1.xml" Id="R2c71660caaa84e7f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F9D8BC"/>
            </a:gs>
            <a:gs pos="50000">
              <a:srgbClr val="FFF9F3"/>
            </a:gs>
            <a:gs pos="100000">
              <a:srgbClr val="F9D8BC"/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503BA3F-9133-4680-85BE-CEE5DECF7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6195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744E3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744E38"/>
                </a:solidFill>
                <a:latin typeface="Arial"/>
                <a:ea typeface="Arial"/>
                <a:cs typeface="Arial"/>
              </a:rPr>
              <a:t>NYAYA VAULT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AE07D8-FF4E-4DA9-A3B1-3A69D3DB2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5750"/>
            <a:ext cx="952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0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3900" b="0">
                <a:solidFill>
                  <a:srgbClr val="171717"/>
                </a:solidFill>
                <a:latin typeface="Arial"/>
                <a:ea typeface="Arial"/>
                <a:cs typeface="Arial"/>
              </a:rPr>
              <a:t>IMPACT AND BENEFITS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87EDB8-E08E-474F-B6A6-56AB6733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744E3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744E38"/>
                </a:solidFill>
                <a:latin typeface="Arial"/>
                <a:ea typeface="Arial"/>
                <a:cs typeface="Arial"/>
              </a:rPr>
              <a:t>IMPACT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025147-8224-4D23-B336-DF4C140D4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52975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744E38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744E38"/>
                </a:solidFill>
                <a:latin typeface="Arial"/>
                <a:ea typeface="Arial"/>
                <a:cs typeface="Arial"/>
              </a:rPr>
              <a:t>BENEFITS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3D1124-7126-43F6-BFC9-3F16AA123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1876425"/>
            <a:ext cx="33718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BFB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AD544E-0B9B-47C3-A712-E409AF3DC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28800"/>
            <a:ext cx="33718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ADA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C1D963-8C16-40F3-9A0C-E7DDFC757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32194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D09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6F02BE-9612-4BA9-A2E8-1FA0D0096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019300"/>
            <a:ext cx="914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0">
                <a:solidFill>
                  <a:srgbClr val="171717"/>
                </a:solidFill>
                <a:latin typeface="Arial Narrow"/>
                <a:ea typeface="Arial Narrow"/>
                <a:cs typeface="Arial Narrow"/>
              </a:defRPr>
            </a:pPr>
            <a:r>
              <a:rPr sz="5700" b="0">
                <a:solidFill>
                  <a:srgbClr val="171717"/>
                </a:solidFill>
                <a:latin typeface="Arial Narrow"/>
                <a:ea typeface="Arial Narrow"/>
                <a:cs typeface="Arial Narrow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7F3EB6-D182-4842-8B02-1F220E9AD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095500"/>
            <a:ext cx="2095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Faster</a:t>
            </a:r>
          </a:p>
          <a:p xmlns:a="http://schemas.openxmlformats.org/drawingml/2006/main">
            <a:pPr>
              <a:defRPr sz="20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Investigations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A55DCE-FE14-4F3B-8D49-0236F7615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19425"/>
            <a:ext cx="2924175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171717"/>
                </a:solidFill>
                <a:latin typeface="Georgia"/>
                <a:ea typeface="Georgia"/>
                <a:cs typeface="Georgia"/>
              </a:rPr>
              <a:t>OCR and semantic search find case evidence in seconds instead of hours.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F45A6C-903F-4FED-A6A9-BCBFC0F38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1876425"/>
            <a:ext cx="33718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BFB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949EFC-7B4E-45E5-A2D2-4E684792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828800"/>
            <a:ext cx="33718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ADA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9026EC-23E8-4948-92AB-A7C42E662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905000"/>
            <a:ext cx="32194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C3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EC5FCC-D60E-4472-8F2F-BF75CC6C1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19300"/>
            <a:ext cx="914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0">
                <a:solidFill>
                  <a:srgbClr val="171717"/>
                </a:solidFill>
                <a:latin typeface="Arial Narrow"/>
                <a:ea typeface="Arial Narrow"/>
                <a:cs typeface="Arial Narrow"/>
              </a:defRPr>
            </a:pPr>
            <a:r>
              <a:rPr sz="5700" b="0">
                <a:solidFill>
                  <a:srgbClr val="171717"/>
                </a:solidFill>
                <a:latin typeface="Arial Narrow"/>
                <a:ea typeface="Arial Narrow"/>
                <a:cs typeface="Arial Narrow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51F006-FB9F-44A2-8F98-52C8292DD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2095500"/>
            <a:ext cx="2095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Court-Ready</a:t>
            </a:r>
          </a:p>
          <a:p xmlns:a="http://schemas.openxmlformats.org/drawingml/2006/main">
            <a:pPr>
              <a:defRPr sz="20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301615-70F4-420F-BE96-941C48B3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19425"/>
            <a:ext cx="2924175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171717"/>
                </a:solidFill>
                <a:latin typeface="Georgia"/>
                <a:ea typeface="Georgia"/>
                <a:cs typeface="Georgia"/>
              </a:rPr>
              <a:t>Auto-generated Section 63 BSA certificates and hash checks make evidence admissible.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2E4CBD-B4BB-4381-9952-66B64E0A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876425"/>
            <a:ext cx="33718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BFB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C9BCFD-21D8-43EB-A104-935E85F69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828800"/>
            <a:ext cx="33718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ADA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79F911-9F86-43FF-A3C5-1FFF5CCBF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05000"/>
            <a:ext cx="32194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9CF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4A8195-17D4-4748-BEB9-ACE82AF58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019300"/>
            <a:ext cx="914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0">
                <a:solidFill>
                  <a:srgbClr val="171717"/>
                </a:solidFill>
                <a:latin typeface="Arial Narrow"/>
                <a:ea typeface="Arial Narrow"/>
                <a:cs typeface="Arial Narrow"/>
              </a:defRPr>
            </a:pPr>
            <a:r>
              <a:rPr sz="5700" b="0">
                <a:solidFill>
                  <a:srgbClr val="171717"/>
                </a:solidFill>
                <a:latin typeface="Arial Narrow"/>
                <a:ea typeface="Arial Narrow"/>
                <a:cs typeface="Arial Narrow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ABEDE2-7804-40AD-82CF-4DB0CD98C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095500"/>
            <a:ext cx="2095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Tamper-Proof</a:t>
            </a:r>
          </a:p>
          <a:p xmlns:a="http://schemas.openxmlformats.org/drawingml/2006/main">
            <a:pPr>
              <a:defRPr sz="20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Records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2A8AAF-B39C-4E38-A16B-29A1B1D01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019425"/>
            <a:ext cx="2924175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171717"/>
                </a:solidFill>
                <a:latin typeface="Georgia"/>
                <a:ea typeface="Georgia"/>
                <a:cs typeface="Georgia"/>
              </a:rPr>
              <a:t>A blockchain-anchored audit trail proves no record was altered.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D67CB0-A872-41F0-ACFB-2EC4FA5B3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1876425"/>
            <a:ext cx="33718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BFB5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D2E7038-187B-485F-A47B-B840B4289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1828800"/>
            <a:ext cx="33718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ADA5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3302FA-94B2-42DC-8C8D-D1BB72E09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1905000"/>
            <a:ext cx="32194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DF3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CF03C49-6F7B-41BD-AC4F-7311BAF98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2019300"/>
            <a:ext cx="914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0">
                <a:solidFill>
                  <a:srgbClr val="171717"/>
                </a:solidFill>
                <a:latin typeface="Arial Narrow"/>
                <a:ea typeface="Arial Narrow"/>
                <a:cs typeface="Arial Narrow"/>
              </a:defRPr>
            </a:pPr>
            <a:r>
              <a:rPr sz="5700" b="0">
                <a:solidFill>
                  <a:srgbClr val="171717"/>
                </a:solidFill>
                <a:latin typeface="Arial Narrow"/>
                <a:ea typeface="Arial Narrow"/>
                <a:cs typeface="Arial Narrow"/>
              </a:rPr>
              <a:t>04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296AF5-5010-47D4-B647-E8FBD39E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0125" y="2095500"/>
            <a:ext cx="2095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Victim Privacy</a:t>
            </a:r>
          </a:p>
          <a:p xmlns:a="http://schemas.openxmlformats.org/drawingml/2006/main">
            <a:pPr>
              <a:defRPr sz="20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Protected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291AAB5-74D0-4AAD-8A61-C14FBB1A9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3019425"/>
            <a:ext cx="2924175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171717"/>
                </a:solidFill>
                <a:latin typeface="Georgia"/>
                <a:ea typeface="Georgia"/>
                <a:cs typeface="Georgia"/>
              </a:rPr>
              <a:t>Redaction, approved by an officer, hides the identities of victims and witnesses.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6613AA-640F-40B1-B319-F483FA7E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314950"/>
            <a:ext cx="33718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BFB5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067ECC-89A1-42DB-850B-7D657D5F1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67325"/>
            <a:ext cx="33718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ADA5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EB7E2D-EEB2-452C-830B-9A012465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43525"/>
            <a:ext cx="32194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D9F4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18AF6C-A565-4209-97C8-EB3A3185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457825"/>
            <a:ext cx="914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0">
                <a:solidFill>
                  <a:srgbClr val="171717"/>
                </a:solidFill>
                <a:latin typeface="Arial Narrow"/>
                <a:ea typeface="Arial Narrow"/>
                <a:cs typeface="Arial Narrow"/>
              </a:defRPr>
            </a:pPr>
            <a:r>
              <a:rPr sz="5700" b="0">
                <a:solidFill>
                  <a:srgbClr val="171717"/>
                </a:solidFill>
                <a:latin typeface="Arial Narrow"/>
                <a:ea typeface="Arial Narrow"/>
                <a:cs typeface="Arial Narrow"/>
              </a:rPr>
              <a:t>05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4F7322-6972-4BD5-8D2B-82AB5A10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5534025"/>
            <a:ext cx="2095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Secure Access</a:t>
            </a:r>
          </a:p>
          <a:p xmlns:a="http://schemas.openxmlformats.org/drawingml/2006/main">
            <a:pPr>
              <a:defRPr sz="20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Control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8A53E8-900D-4E07-BF66-DCCBB9599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457950"/>
            <a:ext cx="2924175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171717"/>
                </a:solidFill>
                <a:latin typeface="Georgia"/>
                <a:ea typeface="Georgia"/>
                <a:cs typeface="Georgia"/>
              </a:rPr>
              <a:t>Role, case-assignment and clearance checks keep evidence limited to authorised officers.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43405BA-CB62-4F86-BA8B-924CD89D7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314950"/>
            <a:ext cx="33718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BFB5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0846DB5-A4DD-4512-8F91-C7CAB5FCC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5267325"/>
            <a:ext cx="33718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ADA5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2EAE56B-3416-4C0A-8C0E-D9021C71A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343525"/>
            <a:ext cx="32194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C5E7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CB8A5F6-F034-4E69-95C7-3D4366D2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457825"/>
            <a:ext cx="914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0">
                <a:solidFill>
                  <a:srgbClr val="171717"/>
                </a:solidFill>
                <a:latin typeface="Arial Narrow"/>
                <a:ea typeface="Arial Narrow"/>
                <a:cs typeface="Arial Narrow"/>
              </a:defRPr>
            </a:pPr>
            <a:r>
              <a:rPr sz="5700" b="0">
                <a:solidFill>
                  <a:srgbClr val="171717"/>
                </a:solidFill>
                <a:latin typeface="Arial Narrow"/>
                <a:ea typeface="Arial Narrow"/>
                <a:cs typeface="Arial Narrow"/>
              </a:rPr>
              <a:t>06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8312906-8EC9-45A8-9EB7-CE4FE96C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9225" y="5534025"/>
            <a:ext cx="2095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AI-Assisted</a:t>
            </a:r>
          </a:p>
          <a:p xmlns:a="http://schemas.openxmlformats.org/drawingml/2006/main">
            <a:pPr>
              <a:defRPr sz="20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Work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57E7CAE-E5B5-420D-B2F1-08214E272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6457950"/>
            <a:ext cx="2924175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171717"/>
                </a:solidFill>
                <a:latin typeface="Georgia"/>
                <a:ea typeface="Georgia"/>
                <a:cs typeface="Georgia"/>
              </a:rPr>
              <a:t>An AI assistant and entity extraction cut manual reading and paperwork.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F1008C3-398F-4A12-AE26-051A56995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314950"/>
            <a:ext cx="33718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BFB5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ADE0AD0-4230-4F54-A6E1-C652331E7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267325"/>
            <a:ext cx="33718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ADA5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B417D13-AD07-40D7-8FDC-398E04CC5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343525"/>
            <a:ext cx="32194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5DC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31186EF-D5DA-4705-942B-C2CC9EC41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5457825"/>
            <a:ext cx="914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0">
                <a:solidFill>
                  <a:srgbClr val="171717"/>
                </a:solidFill>
                <a:latin typeface="Arial Narrow"/>
                <a:ea typeface="Arial Narrow"/>
                <a:cs typeface="Arial Narrow"/>
              </a:defRPr>
            </a:pPr>
            <a:r>
              <a:rPr sz="5700" b="0">
                <a:solidFill>
                  <a:srgbClr val="171717"/>
                </a:solidFill>
                <a:latin typeface="Arial Narrow"/>
                <a:ea typeface="Arial Narrow"/>
                <a:cs typeface="Arial Narrow"/>
              </a:rPr>
              <a:t>07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0150B48-87B0-497B-AA5A-9A784970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5534025"/>
            <a:ext cx="2095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Inclusive &amp;</a:t>
            </a:r>
          </a:p>
          <a:p xmlns:a="http://schemas.openxmlformats.org/drawingml/2006/main">
            <a:pPr>
              <a:defRPr sz="20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Multilingual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3EF2E53-CAA1-436A-9B3B-1DC60D87A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6457950"/>
            <a:ext cx="2924175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171717"/>
                </a:solidFill>
                <a:latin typeface="Georgia"/>
                <a:ea typeface="Georgia"/>
                <a:cs typeface="Georgia"/>
              </a:rPr>
              <a:t>Works in 6 Indian languages on both desktop and mobile.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CA7B5BA-46AD-4036-98F9-4005F417D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3325" y="5314950"/>
            <a:ext cx="33718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BFB5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514988C-7CAF-4CD5-96C4-A046D9F2D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267325"/>
            <a:ext cx="33718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ADA5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BDBF1D7-C73E-458D-BC10-26B250B7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5343525"/>
            <a:ext cx="32194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D1C9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6A7CBB8-9308-42ED-A6AA-DB6DE2F25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5457825"/>
            <a:ext cx="914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700" b="0">
                <a:solidFill>
                  <a:srgbClr val="171717"/>
                </a:solidFill>
                <a:latin typeface="Arial Narrow"/>
                <a:ea typeface="Arial Narrow"/>
                <a:cs typeface="Arial Narrow"/>
              </a:defRPr>
            </a:pPr>
            <a:r>
              <a:rPr sz="5700" b="0">
                <a:solidFill>
                  <a:srgbClr val="171717"/>
                </a:solidFill>
                <a:latin typeface="Arial Narrow"/>
                <a:ea typeface="Arial Narrow"/>
                <a:cs typeface="Arial Narrow"/>
              </a:rPr>
              <a:t>08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8D38900-7880-44A1-8EAF-3EF9DAF18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0125" y="5534025"/>
            <a:ext cx="2095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Low Cost,</a:t>
            </a:r>
          </a:p>
          <a:p xmlns:a="http://schemas.openxmlformats.org/drawingml/2006/main">
            <a:pPr>
              <a:defRPr sz="2025" b="1">
                <a:solidFill>
                  <a:srgbClr val="171717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1717"/>
                </a:solidFill>
                <a:latin typeface="Arial"/>
                <a:ea typeface="Arial"/>
                <a:cs typeface="Arial"/>
              </a:rPr>
              <a:t>Easy to Scale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738E214-B146-4918-867D-562EC8BAE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3350" y="6457950"/>
            <a:ext cx="2924175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1717"/>
                </a:solidFill>
                <a:latin typeface="Georgia"/>
                <a:ea typeface="Georgia"/>
                <a:cs typeface="Georgia"/>
              </a:defRPr>
            </a:pPr>
            <a:r>
              <a:rPr sz="1800" b="0">
                <a:solidFill>
                  <a:srgbClr val="171717"/>
                </a:solidFill>
                <a:latin typeface="Georgia"/>
                <a:ea typeface="Georgia"/>
                <a:cs typeface="Georgia"/>
              </a:rPr>
              <a:t>Mostly open-source and deployable one department at a time.</a:t>
            </a:r>
          </a:p>
        </p:txBody>
      </p:sp>
    </p:spTree>
    <p:extLst>
      <p:ext uri="{BB962C8B-B14F-4D97-AF65-F5344CB8AC3E}">
        <p14:creationId xmlns:p14="http://schemas.microsoft.com/office/powerpoint/2010/main" val="13447264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2026-09-27T13:09:12.4690000Z</dcterms:created>
  <dcterms:modified xsi:type="dcterms:W3CDTF">2026-09-27T13:09:12.4690000Z</dcterms:modified>
</coreProperties>
</file>